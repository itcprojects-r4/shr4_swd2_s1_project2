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5" r:id="rId6"/>
    <p:sldId id="260" r:id="rId7"/>
    <p:sldId id="261" r:id="rId8"/>
    <p:sldId id="262" r:id="rId9"/>
    <p:sldId id="267" r:id="rId10"/>
    <p:sldId id="268" r:id="rId11"/>
    <p:sldId id="269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182880"/>
            <a:ext cx="1463040" cy="146304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840480"/>
            <a:ext cx="2011680" cy="201168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68880"/>
            <a:ext cx="411480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00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ITC — Information Technology Colleague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14400" y="658368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رواد مصر الرقمية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105156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200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GRADUATION</a:t>
            </a:r>
            <a:endParaRPr lang="en-US" sz="5800" dirty="0"/>
          </a:p>
        </p:txBody>
      </p:sp>
      <p:sp>
        <p:nvSpPr>
          <p:cNvPr id="12" name="Text 8"/>
          <p:cNvSpPr/>
          <p:nvPr/>
        </p:nvSpPr>
        <p:spPr>
          <a:xfrm>
            <a:off x="548640" y="1755648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200" dirty="0">
                <a:solidFill>
                  <a:srgbClr val="6C6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</a:t>
            </a:r>
            <a:endParaRPr lang="en-US" sz="5800" dirty="0"/>
          </a:p>
        </p:txBody>
      </p:sp>
      <p:sp>
        <p:nvSpPr>
          <p:cNvPr id="14" name="Shape 10"/>
          <p:cNvSpPr/>
          <p:nvPr/>
        </p:nvSpPr>
        <p:spPr>
          <a:xfrm>
            <a:off x="548640" y="418795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4187952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1100" b="1" dirty="0">
                <a:solidFill>
                  <a:srgbClr val="6C6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development</a:t>
            </a:r>
            <a:endParaRPr lang="en-US" altLang="en-US" sz="1100" b="1" dirty="0">
              <a:solidFill>
                <a:srgbClr val="6C63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651760" y="418795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51760" y="4187952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54880" y="418795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0" y="4187952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 / 2026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903720" y="4069080"/>
            <a:ext cx="2148840" cy="621792"/>
          </a:xfrm>
          <a:prstGeom prst="roundRect">
            <a:avLst>
              <a:gd name="adj" fmla="val 11765"/>
            </a:avLst>
          </a:prstGeom>
          <a:solidFill>
            <a:srgbClr val="6C63FF">
              <a:alpha val="85000"/>
            </a:srgbClr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03720" y="4087368"/>
            <a:ext cx="2148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GHR4_SWD2_S1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903720" y="4398264"/>
            <a:ext cx="2148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frontend-react </a:t>
            </a:r>
            <a:r>
              <a:rPr lang="ar-EG" altLang="en-US" sz="1000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الشرقية </a:t>
            </a:r>
            <a:endParaRPr lang="ar-EG" altLang="en-US" sz="1000" dirty="0">
              <a:solidFill>
                <a:srgbClr val="4FC3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شكر وتقدير لإدارة المبادرة  </a:t>
            </a:r>
            <a:r>
              <a:rPr lang="en-US" sz="12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ولشركة ITC الشركة المنفذة لتراك  </a:t>
            </a:r>
            <a:r>
              <a:rPr lang="en-US" sz="1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 </a:t>
            </a:r>
            <a:r>
              <a:rPr lang="en-US" sz="1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ar-EG" altLang="en-US" sz="1200" b="1" dirty="0">
                <a:solidFill>
                  <a:srgbClr val="FFB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الشرقية</a:t>
            </a:r>
            <a:endParaRPr lang="ar-EG" altLang="en-US" sz="1200" b="1" dirty="0">
              <a:solidFill>
                <a:srgbClr val="FFB3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768350" y="2748280"/>
            <a:ext cx="3048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800">
                <a:solidFill>
                  <a:schemeClr val="bg1"/>
                </a:solidFill>
              </a:rPr>
              <a:t>LUXECART</a:t>
            </a:r>
            <a:endParaRPr lang="en-US" altLang="en-US" sz="4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67558" y="0"/>
            <a:ext cx="8576441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p>
            <a:endParaRPr lang="en-US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32688" y="137160"/>
            <a:ext cx="491947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932688" y="621792"/>
            <a:ext cx="49194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11430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Team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84048" y="1783080"/>
            <a:ext cx="457200" cy="457200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84048" y="17830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932688" y="166420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ar-EG" sz="1300" dirty="0">
                <a:solidFill>
                  <a:schemeClr val="bg2"/>
                </a:solidFill>
              </a:rPr>
              <a:t>Shahd Mansour</a:t>
            </a:r>
            <a:endParaRPr lang="en-US" altLang="ar-EG" sz="1300" dirty="0">
              <a:solidFill>
                <a:schemeClr val="bg2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932688" y="2011680"/>
            <a:ext cx="2011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Leader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10128" y="1783080"/>
            <a:ext cx="457200" cy="457200"/>
          </a:xfrm>
          <a:prstGeom prst="ellipse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10128" y="17830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858768" y="166420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ar-EG" sz="1300" dirty="0">
                <a:solidFill>
                  <a:schemeClr val="bg2"/>
                </a:solidFill>
              </a:rPr>
              <a:t>Rawan Mahmoud</a:t>
            </a:r>
            <a:endParaRPr lang="en-US" altLang="ar-EG" sz="1300" dirty="0">
              <a:solidFill>
                <a:schemeClr val="bg2"/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3858768" y="2011680"/>
            <a:ext cx="2011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74320" y="2651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84048" y="2880360"/>
            <a:ext cx="457200" cy="457200"/>
          </a:xfrm>
          <a:prstGeom prst="ellipse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84048" y="2880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932688" y="276148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ar-EG" sz="1300" dirty="0">
                <a:solidFill>
                  <a:schemeClr val="bg2"/>
                </a:solidFill>
              </a:rPr>
              <a:t>Bassant Roshdy</a:t>
            </a:r>
            <a:endParaRPr lang="en-US" altLang="ar-EG" sz="1300" dirty="0">
              <a:solidFill>
                <a:schemeClr val="bg2"/>
              </a:solidFill>
            </a:endParaRPr>
          </a:p>
        </p:txBody>
      </p:sp>
      <p:sp>
        <p:nvSpPr>
          <p:cNvPr id="23" name="Text 19"/>
          <p:cNvSpPr/>
          <p:nvPr/>
        </p:nvSpPr>
        <p:spPr>
          <a:xfrm>
            <a:off x="932688" y="3108960"/>
            <a:ext cx="2011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050"/>
                </a:solidFill>
              </a:rPr>
              <a:t>UI/UX</a:t>
            </a:r>
            <a:r>
              <a:rPr lang="ar-EG" sz="1000" dirty="0">
                <a:solidFill>
                  <a:srgbClr val="00B050"/>
                </a:solidFill>
              </a:rPr>
              <a:t> </a:t>
            </a:r>
            <a:r>
              <a:rPr lang="en-US" sz="1000" dirty="0">
                <a:solidFill>
                  <a:srgbClr val="00B050"/>
                </a:solidFill>
              </a:rPr>
              <a:t>designer</a:t>
            </a:r>
            <a:endParaRPr lang="en-US" sz="1000" dirty="0">
              <a:solidFill>
                <a:srgbClr val="00B050"/>
              </a:solidFill>
            </a:endParaRPr>
          </a:p>
        </p:txBody>
      </p:sp>
      <p:sp>
        <p:nvSpPr>
          <p:cNvPr id="24" name="Shape 20"/>
          <p:cNvSpPr/>
          <p:nvPr/>
        </p:nvSpPr>
        <p:spPr>
          <a:xfrm>
            <a:off x="3200400" y="2679065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310128" y="2880360"/>
            <a:ext cx="457200" cy="457200"/>
          </a:xfrm>
          <a:prstGeom prst="ellipse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10128" y="2880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858768" y="276148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ar-EG" sz="1300" dirty="0">
                <a:solidFill>
                  <a:schemeClr val="bg2"/>
                </a:solidFill>
              </a:rPr>
              <a:t>Doaa Akram</a:t>
            </a:r>
            <a:endParaRPr lang="en-US" altLang="ar-EG" sz="1300" dirty="0">
              <a:solidFill>
                <a:schemeClr val="bg2"/>
              </a:solidFill>
            </a:endParaRPr>
          </a:p>
        </p:txBody>
      </p:sp>
      <p:sp>
        <p:nvSpPr>
          <p:cNvPr id="28" name="Text 24"/>
          <p:cNvSpPr/>
          <p:nvPr/>
        </p:nvSpPr>
        <p:spPr>
          <a:xfrm>
            <a:off x="3858768" y="3108960"/>
            <a:ext cx="2011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frontend developer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34" name="Shape 30"/>
          <p:cNvSpPr/>
          <p:nvPr/>
        </p:nvSpPr>
        <p:spPr>
          <a:xfrm>
            <a:off x="6126480" y="114300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6263640" y="121615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Name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263640" y="1490472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LuxeCart E-Commerce Platform</a:t>
            </a:r>
            <a:endParaRPr lang="en-US" sz="1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Shape 33"/>
          <p:cNvSpPr/>
          <p:nvPr/>
        </p:nvSpPr>
        <p:spPr>
          <a:xfrm>
            <a:off x="6126480" y="219456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263640" y="226771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263640" y="2542032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React.js, TypeScript, Vite, Tailwind CSS</a:t>
            </a:r>
            <a:endParaRPr lang="en-US" altLang="en-US" sz="1200" dirty="0">
              <a:solidFill>
                <a:schemeClr val="bg2"/>
              </a:solidFill>
            </a:endParaRPr>
          </a:p>
        </p:txBody>
      </p:sp>
      <p:sp>
        <p:nvSpPr>
          <p:cNvPr id="40" name="Shape 36"/>
          <p:cNvSpPr/>
          <p:nvPr/>
        </p:nvSpPr>
        <p:spPr>
          <a:xfrm>
            <a:off x="6126480" y="324612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6263640" y="3319272"/>
            <a:ext cx="2651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263640" y="3593592"/>
            <a:ext cx="2651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ITC</a:t>
            </a:r>
            <a:endParaRPr lang="en-US" altLang="en-US" sz="1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4" y="73152"/>
            <a:ext cx="658368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303520" y="818388"/>
            <a:ext cx="3840480" cy="4325112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943600" y="640080"/>
            <a:ext cx="2926080" cy="2743200"/>
          </a:xfrm>
          <a:prstGeom prst="ellipse">
            <a:avLst/>
          </a:prstGeom>
          <a:solidFill>
            <a:srgbClr val="FF5252">
              <a:alpha val="1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59536" y="402336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FF5252">
              <a:alpha val="2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365760"/>
            <a:ext cx="1645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52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822960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365760" y="1371600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52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Statement</a:t>
            </a:r>
            <a:endParaRPr lang="en-US" sz="3200" dirty="0"/>
          </a:p>
        </p:txBody>
      </p:sp>
      <p:sp>
        <p:nvSpPr>
          <p:cNvPr id="10" name="Shape 6"/>
          <p:cNvSpPr/>
          <p:nvPr/>
        </p:nvSpPr>
        <p:spPr>
          <a:xfrm>
            <a:off x="365760" y="2011680"/>
            <a:ext cx="32004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2148840"/>
            <a:ext cx="466344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altLang="en-US" sz="13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users expect lighting-fast shopping experiences. </a:t>
            </a:r>
            <a:br>
              <a:rPr lang="en-US" altLang="en-US" sz="13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US" altLang="en-US" sz="13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web platforms fail to maintain persistence, lack UI responsiveness, and offer generic layouts that don't match premium brand identities.</a:t>
            </a:r>
            <a:endParaRPr lang="en-US" altLang="en-US" sz="13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577840" y="1097280"/>
            <a:ext cx="3200400" cy="1208405"/>
          </a:xfrm>
          <a:prstGeom prst="roundRect">
            <a:avLst>
              <a:gd name="adj" fmla="val 6667"/>
            </a:avLst>
          </a:prstGeom>
          <a:solidFill>
            <a:srgbClr val="0F1526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0" y="1102995"/>
            <a:ext cx="548640" cy="3143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2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263640" y="10972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500" dirty="0">
                <a:solidFill>
                  <a:schemeClr val="bg2"/>
                </a:solidFill>
              </a:rPr>
              <a:t>Slow Performance</a:t>
            </a:r>
            <a:endParaRPr lang="en-US" altLang="en-US" sz="1500" dirty="0">
              <a:solidFill>
                <a:schemeClr val="bg2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6263640" y="1372235"/>
            <a:ext cx="2377440" cy="7480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00" dirty="0">
                <a:solidFill>
                  <a:schemeClr val="bg2"/>
                </a:solidFill>
              </a:rPr>
              <a:t>Traditional e-commerce sites suffer from heavy page reloads, causing a slow and lagging user experience.</a:t>
            </a:r>
            <a:endParaRPr lang="en-US" altLang="en-US" sz="1000" dirty="0">
              <a:solidFill>
                <a:schemeClr val="bg2"/>
              </a:solidFill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577840" y="3180080"/>
            <a:ext cx="3200400" cy="1144905"/>
          </a:xfrm>
          <a:prstGeom prst="roundRect">
            <a:avLst>
              <a:gd name="adj" fmla="val 6667"/>
            </a:avLst>
          </a:prstGeom>
          <a:solidFill>
            <a:srgbClr val="0F1526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69280" y="3241040"/>
            <a:ext cx="548640" cy="208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263640" y="3248660"/>
            <a:ext cx="2377440" cy="2717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500" dirty="0">
                <a:solidFill>
                  <a:schemeClr val="bg2"/>
                </a:solidFill>
              </a:rPr>
              <a:t>State Loss</a:t>
            </a:r>
            <a:endParaRPr lang="en-US" altLang="en-US" sz="1500" dirty="0">
              <a:solidFill>
                <a:schemeClr val="bg2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5679440" y="3520440"/>
            <a:ext cx="2961005" cy="6305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000" dirty="0">
                <a:solidFill>
                  <a:schemeClr val="bg2"/>
                </a:solidFill>
              </a:rPr>
              <a:t>Refreshing the browser or navigating between pages often results in losing active cart items and user selections</a:t>
            </a:r>
            <a:endParaRPr lang="en-US" altLang="en-US" sz="1000" dirty="0">
              <a:solidFill>
                <a:schemeClr val="bg2"/>
              </a:solidFill>
            </a:endParaRPr>
          </a:p>
        </p:txBody>
      </p:sp>
      <p:sp>
        <p:nvSpPr>
          <p:cNvPr id="21" name="Text 17"/>
          <p:cNvSpPr/>
          <p:nvPr/>
        </p:nvSpPr>
        <p:spPr>
          <a:xfrm>
            <a:off x="5669280" y="3474720"/>
            <a:ext cx="548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263640" y="35204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altLang="en-US" sz="1500" dirty="0">
              <a:solidFill>
                <a:schemeClr val="bg2"/>
              </a:solidFill>
            </a:endParaRPr>
          </a:p>
        </p:txBody>
      </p:sp>
      <p:sp>
        <p:nvSpPr>
          <p:cNvPr id="23" name="Text 19"/>
          <p:cNvSpPr/>
          <p:nvPr/>
        </p:nvSpPr>
        <p:spPr>
          <a:xfrm>
            <a:off x="6263640" y="3913632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73152"/>
            <a:ext cx="9144000" cy="102412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201168"/>
            <a:ext cx="1645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E6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286000" y="18288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2286000" y="713232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12801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5760" y="128016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6C63FF">
              <a:alpha val="2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132588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ar-EG" altLang="en-US" sz="1400" b="1" dirty="0">
                <a:solidFill>
                  <a:srgbClr val="6C6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r>
              <a:rPr lang="en-US" sz="1400" b="1" dirty="0">
                <a:solidFill>
                  <a:srgbClr val="6C6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1783080"/>
            <a:ext cx="3749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 Build a responsive and user-friendly e-commerce platform.</a:t>
            </a:r>
            <a:endParaRPr lang="en-US" altLang="en-US" sz="1200" dirty="0">
              <a:solidFill>
                <a:schemeClr val="bg2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754880" y="12801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54880" y="128016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37760" y="132588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ar-EG" altLang="en-US" sz="1400" b="1" dirty="0">
                <a:solidFill>
                  <a:srgbClr val="00E6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r>
              <a:rPr lang="en-US" sz="1400" b="1" dirty="0">
                <a:solidFill>
                  <a:srgbClr val="00E6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37760" y="1783080"/>
            <a:ext cx="3749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 Enable Customers to browse products and manage their shopping cart easily.</a:t>
            </a:r>
            <a:endParaRPr lang="en-US" altLang="en-US" sz="1200" dirty="0">
              <a:solidFill>
                <a:schemeClr val="bg2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65760" y="301752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301752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306324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ar-EG" altLang="en-US" sz="14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r>
              <a:rPr lang="en-US" sz="14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48640" y="3520440"/>
            <a:ext cx="3749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 Provide a fast and smooth user experience across devices.</a:t>
            </a:r>
            <a:endParaRPr lang="en-US" altLang="en-US" sz="1200" dirty="0">
              <a:solidFill>
                <a:schemeClr val="bg2"/>
              </a:solidFill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754880" y="301752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754880" y="301752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937760" y="306324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ar-EG" altLang="en-US" sz="1400" b="1" dirty="0">
                <a:solidFill>
                  <a:srgbClr val="FFB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r>
              <a:rPr lang="en-US" sz="1400" b="1" dirty="0">
                <a:solidFill>
                  <a:srgbClr val="FFB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937760" y="3520440"/>
            <a:ext cx="3749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 Ensure scalability for future backend, database, and payment integration.</a:t>
            </a:r>
            <a:endParaRPr lang="en-US" altLang="en-US" sz="1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23256" y="274320"/>
            <a:ext cx="3914503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365760" y="914400"/>
            <a:ext cx="4572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C6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365760" y="1920240"/>
            <a:ext cx="2468880" cy="2997200"/>
          </a:xfrm>
          <a:prstGeom prst="roundRect">
            <a:avLst>
              <a:gd name="adj" fmla="val 3704"/>
            </a:avLst>
          </a:prstGeom>
          <a:solidFill>
            <a:srgbClr val="141B2D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43000" y="2057400"/>
            <a:ext cx="914400" cy="91440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2383155"/>
            <a:ext cx="2468880" cy="3924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65760" y="356616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Layouts: Fully responsive design built with Tailwind CSS.</a:t>
            </a:r>
            <a:endParaRPr lang="en-US" altLang="en-US" sz="11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altLang="en-US" sz="11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Components: Custom-built buttons, product cards, and navigation lines.</a:t>
            </a:r>
            <a:endParaRPr lang="en-US" altLang="en-US" sz="11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altLang="en-US" sz="11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Seamless Routing: Fast, single-page transitions using React Router.</a:t>
            </a: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1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2834640" y="3200400"/>
            <a:ext cx="365760" cy="0"/>
          </a:xfrm>
          <a:prstGeom prst="line">
            <a:avLst/>
          </a:prstGeom>
          <a:noFill/>
          <a:ln w="25400">
            <a:solidFill>
              <a:srgbClr val="1E2D4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00400" y="1920240"/>
            <a:ext cx="2468880" cy="2954655"/>
          </a:xfrm>
          <a:prstGeom prst="roundRect">
            <a:avLst>
              <a:gd name="adj" fmla="val 3704"/>
            </a:avLst>
          </a:prstGeom>
          <a:solidFill>
            <a:srgbClr val="141B2D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977640" y="2057400"/>
            <a:ext cx="914400" cy="814705"/>
          </a:xfrm>
          <a:prstGeom prst="ellipse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0" y="2247900"/>
            <a:ext cx="2468880" cy="527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6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00400" y="356616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</a:rPr>
              <a:t>Client-Side Logic: Core operations simulated via Custom Hooks (useCart, useFavorites).</a:t>
            </a:r>
            <a:endParaRPr lang="en-US" altLang="en-US" sz="1100" dirty="0">
              <a:solidFill>
                <a:schemeClr val="bg2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altLang="en-US" sz="1100" dirty="0">
              <a:solidFill>
                <a:schemeClr val="bg2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</a:rPr>
              <a:t>Auth Simulation: Client-side validation for secure-feel login and checkout forms.</a:t>
            </a:r>
            <a:endParaRPr lang="en-US" altLang="en-US" sz="1100" dirty="0">
              <a:solidFill>
                <a:schemeClr val="bg2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altLang="en-US" sz="1100" dirty="0">
              <a:solidFill>
                <a:schemeClr val="bg2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</a:rPr>
              <a:t>State Control: Centralized application flow management using React state.</a:t>
            </a:r>
            <a:endParaRPr lang="en-US" altLang="en-US" sz="1100" dirty="0">
              <a:solidFill>
                <a:schemeClr val="bg2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669280" y="3200400"/>
            <a:ext cx="365760" cy="0"/>
          </a:xfrm>
          <a:prstGeom prst="line">
            <a:avLst/>
          </a:prstGeom>
          <a:noFill/>
          <a:ln w="25400">
            <a:solidFill>
              <a:srgbClr val="1E2D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1920240"/>
            <a:ext cx="2702560" cy="2922270"/>
          </a:xfrm>
          <a:prstGeom prst="roundRect">
            <a:avLst>
              <a:gd name="adj" fmla="val 3704"/>
            </a:avLst>
          </a:prstGeom>
          <a:solidFill>
            <a:srgbClr val="141B2D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12280" y="2057400"/>
            <a:ext cx="914400" cy="828675"/>
          </a:xfrm>
          <a:prstGeom prst="ellipse">
            <a:avLst/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35040" y="2247900"/>
            <a:ext cx="2468880" cy="5365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035040" y="356616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</a:rPr>
              <a:t>LocalStorage: Persistent user data and cart storage across browser refreshes.</a:t>
            </a:r>
            <a:endParaRPr lang="en-US" altLang="en-US" sz="1100" dirty="0">
              <a:solidFill>
                <a:schemeClr val="bg2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altLang="en-US" sz="1100" dirty="0">
              <a:solidFill>
                <a:schemeClr val="bg2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</a:rPr>
              <a:t>Mock Data: Product catalogs structured and served from dynamic JSON files.</a:t>
            </a:r>
            <a:endParaRPr lang="en-US" altLang="en-US" sz="1100" dirty="0">
              <a:solidFill>
                <a:schemeClr val="bg2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altLang="en-US" sz="1100" dirty="0">
              <a:solidFill>
                <a:schemeClr val="bg2"/>
              </a:solidFill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</a:rPr>
              <a:t>Real-time Sync: Instant synchronization of totals, quantities, and user selections</a:t>
            </a:r>
            <a:r>
              <a:rPr lang="en-US" altLang="en-US" sz="1100" dirty="0"/>
              <a:t>.</a:t>
            </a:r>
            <a:endParaRPr lang="en-US" alt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49570" y="169743"/>
            <a:ext cx="2926080" cy="1508760"/>
          </a:xfrm>
          <a:prstGeom prst="roundRect">
            <a:avLst>
              <a:gd name="adj" fmla="val 606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080760" y="365760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</a:t>
            </a:r>
            <a:r>
              <a:rPr lang="en-US" sz="1300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080760" y="777240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</a:t>
            </a:r>
            <a:r>
              <a:rPr lang="en-US" sz="1300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080760" y="1188720"/>
            <a:ext cx="2651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</a:t>
            </a:r>
            <a:r>
              <a:rPr lang="en-US" sz="1300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Flow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45930" y="274320"/>
            <a:ext cx="764942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&amp;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365760" y="8686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365760" y="2322830"/>
            <a:ext cx="4114800" cy="2467610"/>
          </a:xfrm>
          <a:prstGeom prst="roundRect">
            <a:avLst>
              <a:gd name="adj" fmla="val 3571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1691640"/>
            <a:ext cx="4114800" cy="4616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63440" y="1691640"/>
            <a:ext cx="4114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63440" y="3017520"/>
            <a:ext cx="411480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Box 13"/>
          <p:cNvSpPr txBox="1"/>
          <p:nvPr/>
        </p:nvSpPr>
        <p:spPr>
          <a:xfrm>
            <a:off x="4904740" y="2312670"/>
            <a:ext cx="3444875" cy="2461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Designed a modern, visually engaging user interface (UI) aligned with current web design trends.</a:t>
            </a: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Implemented a fully responsive layout to ensure a seamless user experience across all device screen sizes.</a:t>
            </a: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Positioned clear and interactive Call-to-Action (CTA) buttons (Shop Now and View Cart) to optimize user navigation.</a:t>
            </a:r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31800" y="1609725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400">
                <a:solidFill>
                  <a:srgbClr val="00B0F0"/>
                </a:solidFill>
              </a:rPr>
              <a:t>Home Page - LuxeCart</a:t>
            </a:r>
            <a:endParaRPr lang="en-US" altLang="en-US" sz="2400">
              <a:solidFill>
                <a:srgbClr val="00B0F0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2550795" y="394970"/>
            <a:ext cx="3048000" cy="467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Screenshots</a:t>
            </a:r>
            <a:endParaRPr lang="en-US" sz="2800" b="1" dirty="0">
              <a:solidFill>
                <a:srgbClr val="4FC3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45930" y="274320"/>
            <a:ext cx="764942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&amp;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365760" y="8686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365760" y="2322830"/>
            <a:ext cx="4114800" cy="2467610"/>
          </a:xfrm>
          <a:prstGeom prst="roundRect">
            <a:avLst>
              <a:gd name="adj" fmla="val 3571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1691640"/>
            <a:ext cx="4114800" cy="4616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63440" y="1691640"/>
            <a:ext cx="4114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63440" y="3017520"/>
            <a:ext cx="411480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Box 13"/>
          <p:cNvSpPr txBox="1"/>
          <p:nvPr/>
        </p:nvSpPr>
        <p:spPr>
          <a:xfrm>
            <a:off x="4904740" y="2312670"/>
            <a:ext cx="3444875" cy="2461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Developed a dynamic filtering system allowing users to smoothly browse through categories like Beauty, Fragrances, and Laptops.</a:t>
            </a: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Created a clean grid layout for products, highlighting prices, layouts, and discount badges effectively.</a:t>
            </a: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Integrated an intuitive search bar to enhance product discoverability and minimize user effort.</a:t>
            </a:r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31800" y="1202690"/>
            <a:ext cx="3048000" cy="1236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rgbClr val="00B0F0"/>
                </a:solidFill>
              </a:rPr>
              <a:t>Product Catalog &amp; Filtering</a:t>
            </a:r>
            <a:endParaRPr lang="en-US" altLang="en-US" sz="2400">
              <a:solidFill>
                <a:srgbClr val="00B0F0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2550795" y="394970"/>
            <a:ext cx="3048000" cy="467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Screenshots</a:t>
            </a:r>
            <a:endParaRPr lang="en-US" sz="2800" b="1" dirty="0">
              <a:solidFill>
                <a:srgbClr val="4FC3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45930" y="274320"/>
            <a:ext cx="764942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&amp;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365760" y="8686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365760" y="2288540"/>
            <a:ext cx="4114800" cy="2467610"/>
          </a:xfrm>
          <a:prstGeom prst="roundRect">
            <a:avLst>
              <a:gd name="adj" fmla="val 3571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1691640"/>
            <a:ext cx="4114800" cy="4616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63440" y="1691640"/>
            <a:ext cx="4114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63440" y="3017520"/>
            <a:ext cx="411480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Box 13"/>
          <p:cNvSpPr txBox="1"/>
          <p:nvPr/>
        </p:nvSpPr>
        <p:spPr>
          <a:xfrm>
            <a:off x="4904740" y="2312670"/>
            <a:ext cx="3444875" cy="2461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Built a flexible cart management interface that dynamically updates quantities, prices, and totals.</a:t>
            </a: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Structured a detailed Order Summary section that clearly breaks down subtotal, shipping fees, and promo code applications.</a:t>
            </a: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Designed a clear, high-contrast path to a secure checkout (Proceed to Checkout) to boost user trust and completion rates..</a:t>
            </a:r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31800" y="1202690"/>
            <a:ext cx="5166995" cy="840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rgbClr val="00B0F0"/>
                </a:solidFill>
              </a:rPr>
              <a:t>Shopping Bag &amp;</a:t>
            </a:r>
            <a:br>
              <a:rPr lang="en-US" altLang="en-US" sz="2400">
                <a:solidFill>
                  <a:srgbClr val="00B0F0"/>
                </a:solidFill>
              </a:rPr>
            </a:br>
            <a:r>
              <a:rPr lang="en-US" altLang="en-US" sz="2400">
                <a:solidFill>
                  <a:srgbClr val="00B0F0"/>
                </a:solidFill>
              </a:rPr>
              <a:t> Order </a:t>
            </a:r>
            <a:r>
              <a:rPr lang="en-US" altLang="en-US" sz="2400">
                <a:solidFill>
                  <a:srgbClr val="00B0F0"/>
                </a:solidFill>
                <a:sym typeface="+mn-ea"/>
              </a:rPr>
              <a:t>Summary</a:t>
            </a:r>
            <a:r>
              <a:rPr lang="en-US" altLang="en-US" sz="2400">
                <a:solidFill>
                  <a:srgbClr val="00B0F0"/>
                </a:solidFill>
              </a:rPr>
              <a:t>  </a:t>
            </a:r>
            <a:endParaRPr lang="en-US" altLang="en-US" sz="2400">
              <a:solidFill>
                <a:srgbClr val="00B0F0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2550795" y="394970"/>
            <a:ext cx="3048000" cy="467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Screenshots</a:t>
            </a:r>
            <a:endParaRPr lang="en-US" sz="2800" b="1" dirty="0">
              <a:solidFill>
                <a:srgbClr val="4FC3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45930" y="274320"/>
            <a:ext cx="7649429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&amp;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365760" y="8686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365760" y="2288540"/>
            <a:ext cx="4114800" cy="2467610"/>
          </a:xfrm>
          <a:prstGeom prst="roundRect">
            <a:avLst>
              <a:gd name="adj" fmla="val 3571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1691640"/>
            <a:ext cx="4114800" cy="4616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63440" y="1691640"/>
            <a:ext cx="4114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63440" y="3017520"/>
            <a:ext cx="411480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Box 13"/>
          <p:cNvSpPr txBox="1"/>
          <p:nvPr/>
        </p:nvSpPr>
        <p:spPr>
          <a:xfrm>
            <a:off x="4904740" y="2312670"/>
            <a:ext cx="3444875" cy="2461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• Manage account information and monitor shopping activity from a personalized dashboard.</a:t>
            </a: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• Earn loyalty points with every purchase and redeem them for discounts on future orders.</a:t>
            </a: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200">
                <a:solidFill>
                  <a:schemeClr val="bg1"/>
                </a:solidFill>
              </a:rPr>
              <a:t>• Access cart items, favorite products, and order history quickly and conveniently.</a:t>
            </a:r>
            <a:endParaRPr lang="en-US" altLang="en-US" sz="12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200">
              <a:solidFill>
                <a:schemeClr val="bg1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31800" y="1202690"/>
            <a:ext cx="5166995" cy="840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rgbClr val="00B0F0"/>
                </a:solidFill>
              </a:rPr>
              <a:t>User Account &amp;</a:t>
            </a:r>
            <a:br>
              <a:rPr lang="en-US" altLang="en-US" sz="2400">
                <a:solidFill>
                  <a:srgbClr val="00B0F0"/>
                </a:solidFill>
              </a:rPr>
            </a:br>
            <a:r>
              <a:rPr lang="en-US" altLang="en-US" sz="2400">
                <a:solidFill>
                  <a:srgbClr val="00B0F0"/>
                </a:solidFill>
              </a:rPr>
              <a:t> Loyalty Rewards System</a:t>
            </a:r>
            <a:endParaRPr lang="en-US" altLang="en-US" sz="2400">
              <a:solidFill>
                <a:srgbClr val="00B0F0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2550795" y="394970"/>
            <a:ext cx="3048000" cy="467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Screenshots</a:t>
            </a:r>
            <a:endParaRPr lang="en-US" sz="2800" b="1" dirty="0">
              <a:solidFill>
                <a:srgbClr val="4FC3F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6C63FF">
              <a:alpha val="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-1371600" y="-914400"/>
            <a:ext cx="3200400" cy="320040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65760" y="1371600"/>
            <a:ext cx="365760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68350" y="100330"/>
            <a:ext cx="5083810" cy="6489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355600" y="725170"/>
            <a:ext cx="5303520" cy="113157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6C63FF"/>
            </a:solidFill>
            <a:prstDash val="solid"/>
          </a:ln>
        </p:spPr>
        <p:txBody>
          <a:bodyPr/>
          <a:p>
            <a:endParaRPr lang="ar-EG" altLang="en-US"/>
          </a:p>
        </p:txBody>
      </p:sp>
      <p:sp>
        <p:nvSpPr>
          <p:cNvPr id="9" name="Text 5"/>
          <p:cNvSpPr/>
          <p:nvPr/>
        </p:nvSpPr>
        <p:spPr>
          <a:xfrm>
            <a:off x="594360" y="777875"/>
            <a:ext cx="1828800" cy="4006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192024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]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2011045"/>
            <a:ext cx="5293360" cy="1445895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4FC3F7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18795" y="2221865"/>
            <a:ext cx="18288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18795" y="2600325"/>
            <a:ext cx="4871720" cy="7937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</a:rPr>
              <a:t>Improved our React &amp; TypeScript skills</a:t>
            </a:r>
            <a:endParaRPr lang="en-US" altLang="en-US" sz="11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</a:rPr>
              <a:t>Learned state persistence with LocalStorage</a:t>
            </a:r>
            <a:endParaRPr lang="en-US" altLang="en-US" sz="11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</a:rPr>
              <a:t>Gained practical experience in</a:t>
            </a:r>
            <a:r>
              <a:rPr lang="ar-EG" altLang="en-US" sz="1100" dirty="0">
                <a:solidFill>
                  <a:schemeClr val="bg2"/>
                </a:solidFill>
              </a:rPr>
              <a:t> </a:t>
            </a:r>
            <a:r>
              <a:rPr lang="en-US" altLang="en-US" sz="1100" dirty="0">
                <a:solidFill>
                  <a:schemeClr val="bg2"/>
                </a:solidFill>
              </a:rPr>
              <a:t>GitHub</a:t>
            </a:r>
            <a:endParaRPr lang="en-US" altLang="en-US" sz="11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altLang="en-US" sz="11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alt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611880"/>
            <a:ext cx="5375910" cy="131699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00E676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94360" y="3685032"/>
            <a:ext cx="1828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94360" y="4077970"/>
            <a:ext cx="4754880" cy="864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</a:rPr>
              <a:t>Add backend &amp; database integration</a:t>
            </a:r>
            <a:endParaRPr lang="en-US" altLang="en-US" sz="11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</a:rPr>
              <a:t>Support online payments (Stripe / Fawry)</a:t>
            </a:r>
            <a:endParaRPr lang="en-US" altLang="en-US" sz="1100" dirty="0">
              <a:solidFill>
                <a:schemeClr val="bg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bg2"/>
                </a:solidFill>
              </a:rPr>
              <a:t>Build an Admin Dashboard</a:t>
            </a:r>
            <a:endParaRPr lang="en-US" altLang="en-US" sz="1100" dirty="0">
              <a:solidFill>
                <a:schemeClr val="bg2"/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024880" y="1111250"/>
            <a:ext cx="2844800" cy="3288665"/>
          </a:xfrm>
          <a:prstGeom prst="roundRect">
            <a:avLst>
              <a:gd name="adj" fmla="val 3529"/>
            </a:avLst>
          </a:prstGeom>
          <a:solidFill>
            <a:srgbClr val="1A23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0" y="1737360"/>
            <a:ext cx="3108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5760720" y="2286000"/>
            <a:ext cx="3108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63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You!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6217920" y="2971800"/>
            <a:ext cx="219456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60720" y="3154680"/>
            <a:ext cx="3108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Shahd Mansour— Team Leader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ITC Graduation Project</a:t>
            </a:r>
            <a:endParaRPr lang="en-US" sz="1100" dirty="0"/>
          </a:p>
        </p:txBody>
      </p:sp>
      <p:sp>
        <p:nvSpPr>
          <p:cNvPr id="26" name="Shape 7"/>
          <p:cNvSpPr/>
          <p:nvPr/>
        </p:nvSpPr>
        <p:spPr>
          <a:xfrm>
            <a:off x="492760" y="1129030"/>
            <a:ext cx="4838065" cy="410845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noFill/>
            <a:prstDash val="solid"/>
          </a:ln>
        </p:spPr>
        <p:txBody>
          <a:bodyPr/>
          <a:p>
            <a:pPr marL="0" indent="0">
              <a:buNone/>
            </a:pPr>
            <a:r>
              <a:rPr lang="en-US" altLang="en-US" sz="1100" dirty="0">
                <a:solidFill>
                  <a:schemeClr val="bg2"/>
                </a:solidFill>
                <a:sym typeface="+mn-ea"/>
              </a:rPr>
              <a:t>Premium e-commerce website built with React, TypeScript, Vite, and Tailwind CSS for a smooth, responsive shopping experience.</a:t>
            </a:r>
            <a:endParaRPr lang="en-US" altLang="en-US" sz="1100" dirty="0">
              <a:solidFill>
                <a:schemeClr val="accent1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3865</Words>
  <Application>WPS Presentation</Application>
  <PresentationFormat>On-screen Show (16:9)</PresentationFormat>
  <Paragraphs>214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ITC Graduation Project</dc:title>
  <dc:creator>PptxGenJS</dc:creator>
  <dc:subject>PptxGenJS Presentation</dc:subject>
  <cp:lastModifiedBy>Shahd Mansour</cp:lastModifiedBy>
  <cp:revision>5</cp:revision>
  <dcterms:created xsi:type="dcterms:W3CDTF">2026-06-22T16:21:00Z</dcterms:created>
  <dcterms:modified xsi:type="dcterms:W3CDTF">2026-06-24T17:01:28Z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BBE99D7D2E54434590690048CA2AF1D2_12</vt:lpwstr>
  </property>
</Properties>
</file>